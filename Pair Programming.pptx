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3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4" autoAdjust="0"/>
    <p:restoredTop sz="94660"/>
  </p:normalViewPr>
  <p:slideViewPr>
    <p:cSldViewPr snapToGrid="0">
      <p:cViewPr varScale="1">
        <p:scale>
          <a:sx n="91" d="100"/>
          <a:sy n="91" d="100"/>
        </p:scale>
        <p:origin x="5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8925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8/30/2017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2204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0901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8/30/2017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5480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8/30/2017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7911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8/30/2017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361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8/30/2017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71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8/30/2017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632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8/30/2017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5054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8/30/2017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2840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484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pt-BR" smtClean="0"/>
              <a:t>Editar estilos de texto Mestre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110223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64988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8/30/2017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50516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8/30/2017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6579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8/30/2017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3024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8/30/2017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7409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8/30/2017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4707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  <p:sldLayoutId id="2147483708" r:id="rId15"/>
    <p:sldLayoutId id="2147483709" r:id="rId16"/>
    <p:sldLayoutId id="2147483710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devmedia.com.br/implementando-pair-programming-em-sua-equipe/1694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651844" y="304799"/>
            <a:ext cx="8954813" cy="940780"/>
          </a:xfrm>
        </p:spPr>
        <p:txBody>
          <a:bodyPr>
            <a:normAutofit fontScale="90000"/>
          </a:bodyPr>
          <a:lstStyle/>
          <a:p>
            <a:r>
              <a:rPr lang="pt-BR" dirty="0" err="1">
                <a:latin typeface="BankGothic Lt BT" panose="020B0607020203060204" pitchFamily="34" charset="0"/>
              </a:rPr>
              <a:t>Pair</a:t>
            </a:r>
            <a:r>
              <a:rPr lang="pt-BR" dirty="0">
                <a:latin typeface="BankGothic Lt BT" panose="020B0607020203060204" pitchFamily="34" charset="0"/>
              </a:rPr>
              <a:t> </a:t>
            </a:r>
            <a:r>
              <a:rPr lang="pt-BR" dirty="0" err="1" smtClean="0">
                <a:latin typeface="BankGothic Lt BT" panose="020B0607020203060204" pitchFamily="34" charset="0"/>
              </a:rPr>
              <a:t>Programming</a:t>
            </a:r>
            <a:endParaRPr lang="pt-BR" dirty="0">
              <a:latin typeface="BankGothic Lt BT" panose="020B0607020203060204" pitchFamily="34" charset="0"/>
            </a:endParaRP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036990" y="1964668"/>
            <a:ext cx="10058400" cy="1143000"/>
          </a:xfrm>
        </p:spPr>
        <p:txBody>
          <a:bodyPr/>
          <a:lstStyle/>
          <a:p>
            <a:r>
              <a:rPr lang="pt-BR" dirty="0" smtClean="0">
                <a:latin typeface="BankGothic Lt BT" panose="020B0607020203060204" pitchFamily="34" charset="0"/>
              </a:rPr>
              <a:t>É uma técnica de desenvolvimento em pares, na qual um da dupla codifica e o outro “observa”.</a:t>
            </a:r>
            <a:endParaRPr lang="pt-BR" dirty="0">
              <a:latin typeface="BankGothic Lt BT" panose="020B0607020203060204" pitchFamily="34" charset="0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10449059" y="0"/>
            <a:ext cx="6463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pt-BR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6250" y="2669628"/>
            <a:ext cx="8849711" cy="401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34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357780" y="452718"/>
            <a:ext cx="9404723" cy="1400530"/>
          </a:xfrm>
        </p:spPr>
        <p:txBody>
          <a:bodyPr/>
          <a:lstStyle/>
          <a:p>
            <a:r>
              <a:rPr lang="pt-BR" dirty="0" smtClean="0">
                <a:latin typeface="BankGothic Lt BT" panose="020B0607020203060204" pitchFamily="34" charset="0"/>
              </a:rPr>
              <a:t>1.1- Vantagens</a:t>
            </a:r>
            <a:endParaRPr lang="pt-BR" dirty="0">
              <a:latin typeface="BankGothic Lt BT" panose="020B0607020203060204" pitchFamily="34" charset="0"/>
            </a:endParaRP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Em projetos que usam a prática de programação em par existem também vantagens com relação à qualidade do código produzido, pois é observado que</a:t>
            </a:r>
            <a:r>
              <a:rPr lang="pt-BR" dirty="0" smtClean="0"/>
              <a:t>:</a:t>
            </a:r>
          </a:p>
          <a:p>
            <a:pPr marL="0" indent="0">
              <a:buNone/>
            </a:pPr>
            <a:endParaRPr lang="pt-BR" dirty="0" smtClean="0"/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Há um aumento significativo na atenção depositada na codificação do software</a:t>
            </a:r>
            <a:r>
              <a:rPr lang="pt-BR" dirty="0" smtClean="0"/>
              <a:t>;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O rigor é maior no objetivo de seguir os padrões definidos para aquele projeto</a:t>
            </a:r>
            <a:r>
              <a:rPr lang="pt-BR" dirty="0" smtClean="0"/>
              <a:t>;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 smtClean="0"/>
              <a:t>A </a:t>
            </a:r>
            <a:r>
              <a:rPr lang="pt-BR" dirty="0"/>
              <a:t>quantidade de erros de sintaxe diminui</a:t>
            </a:r>
            <a:r>
              <a:rPr lang="pt-BR" dirty="0" smtClean="0"/>
              <a:t>;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 smtClean="0"/>
              <a:t>Etc...</a:t>
            </a:r>
          </a:p>
          <a:p>
            <a:pPr>
              <a:buFont typeface="Wingdings" panose="05000000000000000000" pitchFamily="2" charset="2"/>
              <a:buChar char="§"/>
            </a:pPr>
            <a:endParaRPr lang="pt-BR" dirty="0"/>
          </a:p>
        </p:txBody>
      </p:sp>
      <p:sp>
        <p:nvSpPr>
          <p:cNvPr id="5" name="CaixaDeTexto 4"/>
          <p:cNvSpPr txBox="1"/>
          <p:nvPr/>
        </p:nvSpPr>
        <p:spPr>
          <a:xfrm>
            <a:off x="10426261" y="-47346"/>
            <a:ext cx="69602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/>
              <a:t>2</a:t>
            </a:r>
            <a:endParaRPr lang="pt-BR" sz="7200" dirty="0"/>
          </a:p>
        </p:txBody>
      </p:sp>
    </p:spTree>
    <p:extLst>
      <p:ext uri="{BB962C8B-B14F-4D97-AF65-F5344CB8AC3E}">
        <p14:creationId xmlns:p14="http://schemas.microsoft.com/office/powerpoint/2010/main" val="1223983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787277" y="373940"/>
            <a:ext cx="9404723" cy="1400530"/>
          </a:xfrm>
        </p:spPr>
        <p:txBody>
          <a:bodyPr/>
          <a:lstStyle/>
          <a:p>
            <a:r>
              <a:rPr lang="pt-BR" dirty="0" smtClean="0">
                <a:latin typeface="BankGothic Lt BT" panose="020B0607020203060204" pitchFamily="34" charset="0"/>
              </a:rPr>
              <a:t>1.2 - Desvantagens</a:t>
            </a:r>
            <a:endParaRPr lang="pt-BR" dirty="0">
              <a:latin typeface="BankGothic Lt BT" panose="020B0607020203060204" pitchFamily="34" charset="0"/>
            </a:endParaRP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Infelizmente, o uso de </a:t>
            </a:r>
            <a:r>
              <a:rPr lang="pt-BR" dirty="0" err="1"/>
              <a:t>pair</a:t>
            </a:r>
            <a:r>
              <a:rPr lang="pt-BR" dirty="0"/>
              <a:t> </a:t>
            </a:r>
            <a:r>
              <a:rPr lang="pt-BR" dirty="0" err="1"/>
              <a:t>programming</a:t>
            </a:r>
            <a:r>
              <a:rPr lang="pt-BR" dirty="0"/>
              <a:t> não é somente um “mar de rosas</a:t>
            </a:r>
            <a:r>
              <a:rPr lang="pt-BR" dirty="0" smtClean="0"/>
              <a:t>”, existe algumas falhas, quais são: </a:t>
            </a:r>
          </a:p>
          <a:p>
            <a:pPr marL="0" indent="0">
              <a:buNone/>
            </a:pPr>
            <a:endParaRPr lang="pt-BR" dirty="0"/>
          </a:p>
          <a:p>
            <a:pPr>
              <a:buFont typeface="Wingdings" panose="05000000000000000000" pitchFamily="2" charset="2"/>
              <a:buChar char="§"/>
            </a:pPr>
            <a:r>
              <a:rPr lang="pt-BR" u="sng" dirty="0"/>
              <a:t>Um aumento do custo de um projeto</a:t>
            </a:r>
            <a:r>
              <a:rPr lang="pt-BR" dirty="0" smtClean="0"/>
              <a:t>: </a:t>
            </a:r>
            <a:r>
              <a:rPr lang="pt-BR" dirty="0"/>
              <a:t>Pelo fato de alocar dois programadores que normalmente são remunerados pelo cálculo de </a:t>
            </a:r>
            <a:r>
              <a:rPr lang="pt-BR" b="1" dirty="0" smtClean="0"/>
              <a:t>homem/hora.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u="sng" dirty="0"/>
              <a:t>Dificuldades culturais em compartilhar </a:t>
            </a:r>
            <a:r>
              <a:rPr lang="pt-BR" u="sng" dirty="0" smtClean="0"/>
              <a:t>conhecimento.</a:t>
            </a:r>
          </a:p>
          <a:p>
            <a:pPr marL="0" indent="0">
              <a:buNone/>
            </a:pPr>
            <a:endParaRPr lang="pt-BR" u="sng" dirty="0" smtClean="0"/>
          </a:p>
          <a:p>
            <a:pPr>
              <a:buFont typeface="Wingdings" panose="05000000000000000000" pitchFamily="2" charset="2"/>
              <a:buChar char="§"/>
            </a:pPr>
            <a:r>
              <a:rPr lang="pt-BR" u="sng" dirty="0"/>
              <a:t>Facilidade em fugir da </a:t>
            </a:r>
            <a:r>
              <a:rPr lang="pt-BR" u="sng" dirty="0" smtClean="0"/>
              <a:t>prática</a:t>
            </a:r>
            <a:r>
              <a:rPr lang="pt-BR" b="1" u="sng" dirty="0" smtClean="0"/>
              <a:t>:</a:t>
            </a:r>
            <a:r>
              <a:rPr lang="pt-BR" u="sng" dirty="0"/>
              <a:t> </a:t>
            </a:r>
            <a:r>
              <a:rPr lang="pt-BR" dirty="0" smtClean="0"/>
              <a:t>É </a:t>
            </a:r>
            <a:r>
              <a:rPr lang="pt-BR" dirty="0"/>
              <a:t>comum durante o projeto, ocorrerem casos que favoreçam a quebra de </a:t>
            </a:r>
            <a:r>
              <a:rPr lang="pt-BR" dirty="0" err="1"/>
              <a:t>pair</a:t>
            </a:r>
            <a:r>
              <a:rPr lang="pt-BR" dirty="0"/>
              <a:t> </a:t>
            </a:r>
            <a:r>
              <a:rPr lang="pt-BR" dirty="0" err="1"/>
              <a:t>programming</a:t>
            </a:r>
            <a:r>
              <a:rPr lang="pt-BR" dirty="0"/>
              <a:t>, como por exemplo: </a:t>
            </a:r>
            <a:r>
              <a:rPr lang="pt-BR" dirty="0" smtClean="0"/>
              <a:t>faltas, </a:t>
            </a:r>
            <a:r>
              <a:rPr lang="pt-BR" dirty="0"/>
              <a:t>trabalhos solos além do expediente de trabalho.</a:t>
            </a:r>
          </a:p>
          <a:p>
            <a:pPr>
              <a:buFont typeface="Wingdings" panose="05000000000000000000" pitchFamily="2" charset="2"/>
              <a:buChar char="§"/>
            </a:pPr>
            <a:endParaRPr lang="pt-BR" dirty="0"/>
          </a:p>
        </p:txBody>
      </p:sp>
      <p:sp>
        <p:nvSpPr>
          <p:cNvPr id="4" name="CaixaDeTexto 3"/>
          <p:cNvSpPr txBox="1"/>
          <p:nvPr/>
        </p:nvSpPr>
        <p:spPr>
          <a:xfrm>
            <a:off x="10447283" y="0"/>
            <a:ext cx="69602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/>
              <a:t>3</a:t>
            </a:r>
            <a:endParaRPr lang="pt-BR" sz="7200" dirty="0"/>
          </a:p>
        </p:txBody>
      </p:sp>
    </p:spTree>
    <p:extLst>
      <p:ext uri="{BB962C8B-B14F-4D97-AF65-F5344CB8AC3E}">
        <p14:creationId xmlns:p14="http://schemas.microsoft.com/office/powerpoint/2010/main" val="1334418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787277" y="479044"/>
            <a:ext cx="9404723" cy="1400530"/>
          </a:xfrm>
        </p:spPr>
        <p:txBody>
          <a:bodyPr/>
          <a:lstStyle/>
          <a:p>
            <a:r>
              <a:rPr lang="pt-BR" dirty="0" smtClean="0">
                <a:latin typeface="BankGothic Lt BT" panose="020B0607020203060204" pitchFamily="34" charset="0"/>
              </a:rPr>
              <a:t>1.3 - Conclusão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03312" y="2052918"/>
            <a:ext cx="9322949" cy="4195481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P</a:t>
            </a:r>
            <a:r>
              <a:rPr lang="pt-BR" dirty="0" smtClean="0"/>
              <a:t>rogramação </a:t>
            </a:r>
            <a:r>
              <a:rPr lang="pt-BR" dirty="0"/>
              <a:t>em par, quando bem aplicada, torna o desenvolvimento mais divertido, dinâmico e mais ágil</a:t>
            </a:r>
            <a:r>
              <a:rPr lang="pt-BR" dirty="0" smtClean="0"/>
              <a:t>, </a:t>
            </a:r>
            <a:r>
              <a:rPr lang="pt-BR" dirty="0"/>
              <a:t>e gostaria de lembrar que a maioria dos casos de insucesso no uso de </a:t>
            </a:r>
            <a:r>
              <a:rPr lang="pt-BR" dirty="0" err="1"/>
              <a:t>pair</a:t>
            </a:r>
            <a:r>
              <a:rPr lang="pt-BR" dirty="0"/>
              <a:t> </a:t>
            </a:r>
            <a:r>
              <a:rPr lang="pt-BR" dirty="0" err="1"/>
              <a:t>programming</a:t>
            </a:r>
            <a:r>
              <a:rPr lang="pt-BR" dirty="0"/>
              <a:t> está associada ao não uso de outras práticas sugeridas por </a:t>
            </a:r>
            <a:r>
              <a:rPr lang="pt-BR" dirty="0" smtClean="0"/>
              <a:t>XP.</a:t>
            </a:r>
            <a:endParaRPr lang="pt-BR" dirty="0"/>
          </a:p>
        </p:txBody>
      </p:sp>
      <p:sp>
        <p:nvSpPr>
          <p:cNvPr id="4" name="CaixaDeTexto 3"/>
          <p:cNvSpPr txBox="1"/>
          <p:nvPr/>
        </p:nvSpPr>
        <p:spPr>
          <a:xfrm>
            <a:off x="10426261" y="-21020"/>
            <a:ext cx="69602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/>
              <a:t>4</a:t>
            </a:r>
            <a:endParaRPr lang="pt-BR" sz="7200" dirty="0"/>
          </a:p>
        </p:txBody>
      </p:sp>
    </p:spTree>
    <p:extLst>
      <p:ext uri="{BB962C8B-B14F-4D97-AF65-F5344CB8AC3E}">
        <p14:creationId xmlns:p14="http://schemas.microsoft.com/office/powerpoint/2010/main" val="3380583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787277" y="500064"/>
            <a:ext cx="9404723" cy="1400530"/>
          </a:xfrm>
        </p:spPr>
        <p:txBody>
          <a:bodyPr/>
          <a:lstStyle/>
          <a:p>
            <a:r>
              <a:rPr lang="pt-BR" dirty="0" smtClean="0">
                <a:latin typeface="BankGothic Lt BT" panose="020B0607020203060204" pitchFamily="34" charset="0"/>
              </a:rPr>
              <a:t>1.4 -Referências</a:t>
            </a:r>
            <a:endParaRPr lang="pt-BR" dirty="0">
              <a:latin typeface="BankGothic Lt BT" panose="020B0607020203060204" pitchFamily="34" charset="0"/>
            </a:endParaRP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2"/>
              </a:rPr>
              <a:t>http://</a:t>
            </a:r>
            <a:r>
              <a:rPr lang="pt-BR" dirty="0" smtClean="0">
                <a:hlinkClick r:id="rId2"/>
              </a:rPr>
              <a:t>www.devmedia.com.br/implementando-pair-programming-em-sua-equipe/1694</a:t>
            </a:r>
            <a:endParaRPr lang="pt-BR" dirty="0" smtClean="0"/>
          </a:p>
          <a:p>
            <a:endParaRPr lang="pt-BR" dirty="0" smtClean="0"/>
          </a:p>
          <a:p>
            <a:r>
              <a:rPr lang="pt-BR" dirty="0"/>
              <a:t>https://blog.daftcode.pl/pair-programming-demystified-730c6f0b145b</a:t>
            </a:r>
          </a:p>
        </p:txBody>
      </p:sp>
      <p:sp>
        <p:nvSpPr>
          <p:cNvPr id="4" name="CaixaDeTexto 3"/>
          <p:cNvSpPr txBox="1"/>
          <p:nvPr/>
        </p:nvSpPr>
        <p:spPr>
          <a:xfrm>
            <a:off x="10436773" y="0"/>
            <a:ext cx="69602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14692236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Íon">
  <a:themeElements>
    <a:clrScheme name="Í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Í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Í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32</TotalTime>
  <Words>198</Words>
  <Application>Microsoft Office PowerPoint</Application>
  <PresentationFormat>Widescreen</PresentationFormat>
  <Paragraphs>27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12" baseType="lpstr">
      <vt:lpstr>Arial</vt:lpstr>
      <vt:lpstr>BankGothic Lt BT</vt:lpstr>
      <vt:lpstr>Century Gothic</vt:lpstr>
      <vt:lpstr>Times New Roman</vt:lpstr>
      <vt:lpstr>Wingdings</vt:lpstr>
      <vt:lpstr>Wingdings 3</vt:lpstr>
      <vt:lpstr>Íon</vt:lpstr>
      <vt:lpstr>Pair Programming</vt:lpstr>
      <vt:lpstr>1.1- Vantagens</vt:lpstr>
      <vt:lpstr>1.2 - Desvantagens</vt:lpstr>
      <vt:lpstr>1.3 - Conclusão</vt:lpstr>
      <vt:lpstr>1.4 -Referências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Pair Programming</dc:title>
  <dc:creator>senac</dc:creator>
  <cp:lastModifiedBy>senac</cp:lastModifiedBy>
  <cp:revision>4</cp:revision>
  <dcterms:created xsi:type="dcterms:W3CDTF">2017-08-30T01:01:58Z</dcterms:created>
  <dcterms:modified xsi:type="dcterms:W3CDTF">2017-08-30T22:29:56Z</dcterms:modified>
</cp:coreProperties>
</file>